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79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2864"/>
                </a:solidFill>
                <a:latin typeface="Arial"/>
              </a:defRPr>
            </a:pPr>
            <a:r>
              <a:t>GAN-based Cross-Domain CSI Data Augmentation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371600" cy="502920"/>
          </a:xfrm>
          <a:prstGeom prst="rect">
            <a:avLst/>
          </a:prstGeom>
          <a:solidFill>
            <a:srgbClr val="E6F0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Source Domain</a:t>
            </a:r>
          </a:p>
          <a:p>
            <a:r>
              <a:t>Env0 + Env1</a:t>
            </a:r>
          </a:p>
          <a:p>
            <a:r>
              <a:t>[B, 3, 56, 6000]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371600" cy="502920"/>
          </a:xfrm>
          <a:prstGeom prst="rect">
            <a:avLst/>
          </a:prstGeom>
          <a:solidFill>
            <a:srgbClr val="E6F0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Target Domain</a:t>
            </a:r>
          </a:p>
          <a:p>
            <a:r>
              <a:t>Env2 (Few-shot)</a:t>
            </a:r>
          </a:p>
          <a:p>
            <a:r>
              <a:t>[B, 3, 56, 6000]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51560"/>
            <a:ext cx="1188720" cy="1280160"/>
          </a:xfrm>
          <a:prstGeom prst="rect">
            <a:avLst/>
          </a:prstGeom>
          <a:solidFill>
            <a:srgbClr val="ADD8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Feature</a:t>
            </a:r>
          </a:p>
          <a:p>
            <a:r>
              <a:t>Extractor E</a:t>
            </a:r>
          </a:p>
          <a:p>
            <a:endParaRPr/>
          </a:p>
          <a:p>
            <a:r>
              <a:t>Conv1D ×3</a:t>
            </a:r>
          </a:p>
          <a:p>
            <a:r>
              <a:t>⊕</a:t>
            </a:r>
          </a:p>
          <a:p>
            <a:r>
              <a:t>BN + ReLU</a:t>
            </a:r>
          </a:p>
          <a:p>
            <a:r>
              <a:t>⊕</a:t>
            </a:r>
          </a:p>
          <a:p>
            <a:r>
              <a:t>FC: 256→128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777240"/>
            <a:ext cx="1737360" cy="1828800"/>
          </a:xfrm>
          <a:prstGeom prst="rect">
            <a:avLst/>
          </a:prstGeom>
          <a:solidFill>
            <a:srgbClr val="FFC8C8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Generator G</a:t>
            </a:r>
          </a:p>
          <a:p>
            <a:endParaRPr/>
          </a:p>
          <a:p>
            <a:r>
              <a:t>Encoder (3 layers)</a:t>
            </a:r>
          </a:p>
          <a:p>
            <a:r>
              <a:t>Downsampling</a:t>
            </a:r>
          </a:p>
          <a:p>
            <a:r>
              <a:t>⊕</a:t>
            </a:r>
          </a:p>
          <a:p>
            <a:r>
              <a:t>Style Fusion</a:t>
            </a:r>
          </a:p>
          <a:p>
            <a:r>
              <a:t>AdaIN Mechanism</a:t>
            </a:r>
          </a:p>
          <a:p>
            <a:r>
              <a:t>⊕</a:t>
            </a:r>
          </a:p>
          <a:p>
            <a:r>
              <a:t>Decoder (3 layers)</a:t>
            </a:r>
          </a:p>
          <a:p>
            <a:r>
              <a:t>Upsampling + Skip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05840"/>
            <a:ext cx="1280160" cy="594360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800" b="1">
                <a:solidFill>
                  <a:srgbClr val="282828"/>
                </a:solidFill>
                <a:latin typeface="Arial"/>
              </a:defRPr>
            </a:pPr>
            <a:r>
              <a:t>Discriminator D</a:t>
            </a:r>
          </a:p>
          <a:p>
            <a:r>
              <a:t>Time Domain</a:t>
            </a:r>
          </a:p>
          <a:p>
            <a:endParaRPr/>
          </a:p>
          <a:p>
            <a:r>
              <a:t>Conv1D + SN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1280160" cy="594360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800" b="1">
                <a:solidFill>
                  <a:srgbClr val="282828"/>
                </a:solidFill>
                <a:latin typeface="Arial"/>
              </a:defRPr>
            </a:pPr>
            <a:r>
              <a:t>Discriminator Ds</a:t>
            </a:r>
          </a:p>
          <a:p>
            <a:r>
              <a:t>Frequency Domain</a:t>
            </a:r>
          </a:p>
          <a:p>
            <a:endParaRPr/>
          </a:p>
          <a:p>
            <a:r>
              <a:t>FFT + Conv1D + SN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325880"/>
            <a:ext cx="1371600" cy="731520"/>
          </a:xfrm>
          <a:prstGeom prst="rect">
            <a:avLst/>
          </a:prstGeom>
          <a:solidFill>
            <a:srgbClr val="C8FFC8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Augmented</a:t>
            </a:r>
          </a:p>
          <a:p>
            <a:r>
              <a:t>Target Data</a:t>
            </a:r>
          </a:p>
          <a:p>
            <a:endParaRPr/>
          </a:p>
          <a:p>
            <a:r>
              <a:t>Real + Synthetic</a:t>
            </a:r>
          </a:p>
          <a:p>
            <a:r>
              <a:t>[1000, 3, 56, 6000]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1161288"/>
            <a:ext cx="365760" cy="210312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20240" y="1828800"/>
            <a:ext cx="365760" cy="64007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1691640"/>
            <a:ext cx="4572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337560" y="1591056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282828"/>
                </a:solidFill>
                <a:latin typeface="Arial"/>
              </a:defRPr>
            </a:pPr>
            <a:r>
              <a:t>f_t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920240" y="1188720"/>
            <a:ext cx="201168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69280" y="1307592"/>
            <a:ext cx="457200" cy="384048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1691640"/>
            <a:ext cx="457200" cy="438912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1307592"/>
            <a:ext cx="457200" cy="201168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06640" y="1874519"/>
            <a:ext cx="457200" cy="256033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26480" y="2926080"/>
            <a:ext cx="3108960" cy="960120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defRPr sz="800">
                <a:latin typeface="Arial"/>
              </a:defRPr>
            </a:pPr>
            <a:r>
              <a:t>Loss Functions:</a:t>
            </a:r>
          </a:p>
          <a:p>
            <a:r>
              <a:t>𝓛_D = 𝓛_WGAN-GP = E[D(x̃)] - E[D(x)] + λ_GP·GP</a:t>
            </a:r>
          </a:p>
          <a:p>
            <a:r>
              <a:t>𝓛_G = 𝓛_adv + λ_mmd·𝓛_MMD + λ_freq·𝓛_freq</a:t>
            </a:r>
          </a:p>
          <a:p>
            <a:endParaRPr/>
          </a:p>
          <a:p>
            <a:r>
              <a:t>Hyperparameters: λ_GP=10, λ_mmd=20, λ_freq=5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2651760" cy="960120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defRPr sz="800">
                <a:latin typeface="Arial"/>
              </a:defRPr>
            </a:pPr>
            <a:r>
              <a:t>Training Configuration:</a:t>
            </a:r>
          </a:p>
          <a:p>
            <a:r>
              <a:t>Epochs: 100 | Batch: 100 | Optimizer: Adam (β₁=0.0, β₂=0.9)</a:t>
            </a:r>
          </a:p>
          <a:p>
            <a:r>
              <a:t>Learning Rate: lr_G=1e-4, lr_D=1e-4 | n_critic=3</a:t>
            </a:r>
          </a:p>
          <a:p>
            <a:r>
              <a:t>Gradient Clipping: max_norm=1.0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926080"/>
            <a:ext cx="2377440" cy="960120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defRPr sz="800">
                <a:latin typeface="Arial"/>
              </a:defRPr>
            </a:pPr>
            <a:r>
              <a:t>Evaluation Metrics:</a:t>
            </a:r>
          </a:p>
          <a:p>
            <a:r>
              <a:t>• FID (Fréchet Inception Distance)</a:t>
            </a:r>
          </a:p>
          <a:p>
            <a:r>
              <a:t>• IS (Inception Score)</a:t>
            </a:r>
          </a:p>
          <a:p>
            <a:r>
              <a:t>• Time-domain MSE | Spectral Correlation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2864"/>
                </a:solidFill>
                <a:latin typeface="Arial"/>
              </a:defRPr>
            </a:pPr>
            <a:r>
              <a:t>Generator Architecture with AdaIN-based Style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645920" cy="384048"/>
          </a:xfrm>
          <a:prstGeom prst="rect">
            <a:avLst/>
          </a:prstGeom>
          <a:solidFill>
            <a:srgbClr val="E6F0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Input: [B, 3, 56, 6000]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1252728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344168"/>
            <a:ext cx="1645920" cy="384048"/>
          </a:xfrm>
          <a:prstGeom prst="rect">
            <a:avLst/>
          </a:prstGeom>
          <a:solidFill>
            <a:srgbClr val="ADD8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Reshape → [B, 168, 6000]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1728216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819656"/>
            <a:ext cx="1645920" cy="384048"/>
          </a:xfrm>
          <a:prstGeom prst="rect">
            <a:avLst/>
          </a:prstGeom>
          <a:solidFill>
            <a:srgbClr val="ADD8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Conv1D(168→64, k=7, s=4)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2203704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2295144"/>
            <a:ext cx="1645920" cy="384048"/>
          </a:xfrm>
          <a:prstGeom prst="rect">
            <a:avLst/>
          </a:prstGeom>
          <a:solidFill>
            <a:srgbClr val="ADD8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Conv1D(64→128, k=5, s=4)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2679191"/>
            <a:ext cx="0" cy="91441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2770632"/>
            <a:ext cx="1645920" cy="384048"/>
          </a:xfrm>
          <a:prstGeom prst="rect">
            <a:avLst/>
          </a:prstGeom>
          <a:solidFill>
            <a:srgbClr val="ADD8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Conv1D(128→256, k=3, s=2)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3154679"/>
            <a:ext cx="0" cy="91441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3246120"/>
            <a:ext cx="1645920" cy="384048"/>
          </a:xfrm>
          <a:prstGeom prst="rect">
            <a:avLst/>
          </a:prstGeom>
          <a:solidFill>
            <a:srgbClr val="87CE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Global Pool + FC(256→128)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3630168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3721608"/>
            <a:ext cx="1645920" cy="384048"/>
          </a:xfrm>
          <a:prstGeom prst="rect">
            <a:avLst/>
          </a:prstGeom>
          <a:solidFill>
            <a:srgbClr val="87CE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Feature f_t: [B, 128]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777240"/>
            <a:ext cx="1371600" cy="457200"/>
          </a:xfrm>
          <a:prstGeom prst="rect">
            <a:avLst/>
          </a:prstGeom>
          <a:solidFill>
            <a:srgbClr val="E6F0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Source x_s [B,3,56,6000]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1234440"/>
            <a:ext cx="0" cy="228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560320" y="1463040"/>
            <a:ext cx="1371600" cy="914400"/>
          </a:xfrm>
          <a:prstGeom prst="rect">
            <a:avLst/>
          </a:prstGeom>
          <a:solidFill>
            <a:srgbClr val="FFC8C8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Encoder</a:t>
            </a:r>
          </a:p>
          <a:p>
            <a:endParaRPr/>
          </a:p>
          <a:p>
            <a:r>
              <a:t>Conv1D ×3</a:t>
            </a:r>
          </a:p>
          <a:p>
            <a:r>
              <a:t>(Stride Downsampling)</a:t>
            </a:r>
          </a:p>
          <a:p>
            <a:endParaRPr/>
          </a:p>
          <a:p>
            <a:r>
              <a:t>Outputs: e1, e2, e3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2377440"/>
            <a:ext cx="0" cy="228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560320" y="2606040"/>
            <a:ext cx="1371600" cy="640080"/>
          </a:xfrm>
          <a:prstGeom prst="rect">
            <a:avLst/>
          </a:prstGeom>
          <a:solidFill>
            <a:srgbClr val="FFC8C8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Middle Block</a:t>
            </a:r>
          </a:p>
          <a:p>
            <a:endParaRPr/>
          </a:p>
          <a:p>
            <a:r>
              <a:t>Conv1D ×2</a:t>
            </a:r>
          </a:p>
          <a:p>
            <a:r>
              <a:t>InstanceNorm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03120" y="3429000"/>
            <a:ext cx="822960" cy="6858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26080" y="3337560"/>
            <a:ext cx="640080" cy="320040"/>
          </a:xfrm>
          <a:prstGeom prst="rect">
            <a:avLst/>
          </a:prstGeom>
          <a:solidFill>
            <a:srgbClr val="87CEFA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700" b="1">
                <a:solidFill>
                  <a:srgbClr val="282828"/>
                </a:solidFill>
                <a:latin typeface="Arial"/>
              </a:defRPr>
            </a:pPr>
            <a:r>
              <a:t>Style</a:t>
            </a:r>
          </a:p>
          <a:p>
            <a:r>
              <a:t>Fusion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3246120"/>
            <a:ext cx="0" cy="2286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60320" y="3474720"/>
            <a:ext cx="1371600" cy="1097280"/>
          </a:xfrm>
          <a:prstGeom prst="rect">
            <a:avLst/>
          </a:prstGeom>
          <a:solidFill>
            <a:srgbClr val="FFC8C8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Decoder</a:t>
            </a:r>
          </a:p>
          <a:p>
            <a:endParaRPr/>
          </a:p>
          <a:p>
            <a:r>
              <a:t>AdaIN + ConvTranspose ×3</a:t>
            </a:r>
          </a:p>
          <a:p>
            <a:r>
              <a:t>(Upsampling)</a:t>
            </a:r>
          </a:p>
          <a:p>
            <a:endParaRPr/>
          </a:p>
          <a:p>
            <a:r>
              <a:t>Skip Connections:</a:t>
            </a:r>
          </a:p>
          <a:p>
            <a:r>
              <a:t>Concat(d_i, e_i)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6120" y="4572000"/>
            <a:ext cx="0" cy="27432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560320" y="4846320"/>
            <a:ext cx="1371600" cy="411480"/>
          </a:xfrm>
          <a:prstGeom prst="rect">
            <a:avLst/>
          </a:prstGeom>
          <a:solidFill>
            <a:srgbClr val="C8FFC8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Output x̃_t: [B,3,56,6000]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777240"/>
            <a:ext cx="4937760" cy="2103120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ct val="110000"/>
              </a:lnSpc>
              <a:defRPr sz="800">
                <a:latin typeface="Arial"/>
              </a:defRPr>
            </a:pPr>
            <a:r>
              <a:rPr dirty="0"/>
              <a:t>Adaptive Instance Normalization (</a:t>
            </a:r>
            <a:r>
              <a:rPr dirty="0" err="1"/>
              <a:t>AdaIN</a:t>
            </a:r>
            <a:r>
              <a:rPr dirty="0"/>
              <a:t>):</a:t>
            </a:r>
          </a:p>
          <a:p>
            <a:endParaRPr dirty="0"/>
          </a:p>
          <a:p>
            <a:r>
              <a:rPr dirty="0" err="1"/>
              <a:t>AdaIN</a:t>
            </a:r>
            <a:r>
              <a:rPr dirty="0"/>
              <a:t>(x, </a:t>
            </a:r>
            <a:r>
              <a:rPr dirty="0" err="1"/>
              <a:t>f_style</a:t>
            </a:r>
            <a:r>
              <a:rPr dirty="0"/>
              <a:t>) = σ(</a:t>
            </a:r>
            <a:r>
              <a:rPr dirty="0" err="1"/>
              <a:t>f_style</a:t>
            </a:r>
            <a:r>
              <a:rPr dirty="0"/>
              <a:t>) · Normalize(x) + μ(</a:t>
            </a:r>
            <a:r>
              <a:rPr dirty="0" err="1"/>
              <a:t>f_style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where:</a:t>
            </a:r>
          </a:p>
          <a:p>
            <a:r>
              <a:rPr dirty="0"/>
              <a:t>  • x: Feature maps from decoder layers</a:t>
            </a:r>
          </a:p>
          <a:p>
            <a:r>
              <a:rPr dirty="0"/>
              <a:t>  • </a:t>
            </a:r>
            <a:r>
              <a:rPr dirty="0" err="1"/>
              <a:t>f_style</a:t>
            </a:r>
            <a:r>
              <a:rPr dirty="0"/>
              <a:t>: Target domain style feature [B, 128]</a:t>
            </a:r>
          </a:p>
          <a:p>
            <a:r>
              <a:rPr dirty="0"/>
              <a:t>  • σ, μ: Learned scale and shift parameters from </a:t>
            </a:r>
            <a:r>
              <a:rPr dirty="0" err="1"/>
              <a:t>f_style</a:t>
            </a:r>
            <a:endParaRPr dirty="0"/>
          </a:p>
          <a:p>
            <a:r>
              <a:rPr dirty="0"/>
              <a:t>  • Normalize: Instance Normalization layer</a:t>
            </a:r>
          </a:p>
          <a:p>
            <a:endParaRPr dirty="0"/>
          </a:p>
          <a:p>
            <a:r>
              <a:rPr dirty="0"/>
              <a:t>Key Benefits:</a:t>
            </a:r>
          </a:p>
          <a:p>
            <a:r>
              <a:rPr dirty="0"/>
              <a:t>  1. Disentangle content (from </a:t>
            </a:r>
            <a:r>
              <a:rPr dirty="0" err="1"/>
              <a:t>x_s</a:t>
            </a:r>
            <a:r>
              <a:rPr dirty="0"/>
              <a:t>) and style (from </a:t>
            </a:r>
            <a:r>
              <a:rPr dirty="0" err="1"/>
              <a:t>f_t</a:t>
            </a:r>
            <a:r>
              <a:rPr dirty="0"/>
              <a:t>)</a:t>
            </a:r>
          </a:p>
          <a:p>
            <a:r>
              <a:rPr dirty="0"/>
              <a:t>  2. Enable cross-domain style transfer</a:t>
            </a:r>
          </a:p>
          <a:p>
            <a:r>
              <a:rPr dirty="0"/>
              <a:t>  3. Preserve source domain identity while adapting to target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108960"/>
            <a:ext cx="4937760" cy="2148840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ct val="110000"/>
              </a:lnSpc>
              <a:defRPr sz="800">
                <a:latin typeface="Arial"/>
              </a:defRPr>
            </a:pPr>
            <a:r>
              <a:t>U-Net Skip Connections:</a:t>
            </a:r>
          </a:p>
          <a:p>
            <a:endParaRPr/>
          </a:p>
          <a:p>
            <a:r>
              <a:t>Encoder outputs {e1, e2, e3} are concatenated with corresponding</a:t>
            </a:r>
          </a:p>
          <a:p>
            <a:r>
              <a:t>decoder layers for multi-scale feature fusion:</a:t>
            </a:r>
          </a:p>
          <a:p>
            <a:endParaRPr/>
          </a:p>
          <a:p>
            <a:r>
              <a:t>  Decoder Layer 3: Concat(d3, e3) → ConvTranspose + AdaIN</a:t>
            </a:r>
          </a:p>
          <a:p>
            <a:r>
              <a:t>  Decoder Layer 2: Concat(d2, e2) → ConvTranspose + AdaIN</a:t>
            </a:r>
          </a:p>
          <a:p>
            <a:r>
              <a:t>  Decoder Layer 1: Concat(d1, e1) → ConvTranspose + AdaIN</a:t>
            </a:r>
          </a:p>
          <a:p>
            <a:endParaRPr/>
          </a:p>
          <a:p>
            <a:r>
              <a:t>Advantages:</a:t>
            </a:r>
          </a:p>
          <a:p>
            <a:r>
              <a:t>  • Retain fine-grained source domain details</a:t>
            </a:r>
          </a:p>
          <a:p>
            <a:r>
              <a:t>  • Mitigate gradient vanishing in deep networks</a:t>
            </a:r>
          </a:p>
          <a:p>
            <a:r>
              <a:t>  • Improve reconstruction fidelity</a:t>
            </a:r>
          </a:p>
          <a:p>
            <a:r>
              <a:t>  • Accelerate training convergence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2864"/>
                </a:solidFill>
                <a:latin typeface="Arial"/>
              </a:defRPr>
            </a:pPr>
            <a:r>
              <a:t>Dual Discriminators and WGAN-GP Training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347472"/>
          </a:xfrm>
          <a:prstGeom prst="rect">
            <a:avLst/>
          </a:prstGeom>
          <a:solidFill>
            <a:srgbClr val="E6F0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Input x [B, 3, 56, 6000]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0" y="1216152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07592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Reshape → [B, 168, 6000]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1655064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46504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Conv1D(168→64, k=7, s=4) + SN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093976"/>
            <a:ext cx="0" cy="91439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185415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Conv1D(64→128, k=5, s=4) + SN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2532887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2624327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Conv1D(128→256, k=3, s=2) + SN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971799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3063239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Conv1D(256→512, k=3, s=2) + SN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54480" y="3410711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8640" y="3502151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Global Pool + FC(512→1) + SN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54480" y="3849624"/>
            <a:ext cx="0" cy="91439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3941063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Score: D(x)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868680"/>
            <a:ext cx="2011680" cy="347472"/>
          </a:xfrm>
          <a:prstGeom prst="rect">
            <a:avLst/>
          </a:prstGeom>
          <a:solidFill>
            <a:srgbClr val="E6F0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Input x [B, 3, 56, 6000]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1216152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17520" y="1307592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FFT → Magnitude Spectrum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23360" y="1655064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017520" y="1746504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Conv1D(168→64, k=7, s=4) + SN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2093976"/>
            <a:ext cx="0" cy="91439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017520" y="2185415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Conv1D(64→128, k=5, s=4) + SN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2532887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017520" y="2624327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Conv1D(128→256, k=3, s=2) + SN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2971799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017520" y="3063239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Conv1D(256→512, k=3, s=2) + SN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23360" y="3410711"/>
            <a:ext cx="0" cy="9144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017520" y="3502151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Global Pool + FC(512→1) + SN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23360" y="3849624"/>
            <a:ext cx="0" cy="91439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017520" y="3941063"/>
            <a:ext cx="2011680" cy="347472"/>
          </a:xfrm>
          <a:prstGeom prst="rect">
            <a:avLst/>
          </a:prstGeom>
          <a:solidFill>
            <a:srgbClr val="C8C8FF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900" b="1">
                <a:solidFill>
                  <a:srgbClr val="282828"/>
                </a:solidFill>
                <a:latin typeface="Arial"/>
              </a:defRPr>
            </a:pPr>
            <a:r>
              <a:t>Score: D_s(x)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777240"/>
            <a:ext cx="3840480" cy="2377440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ct val="105000"/>
              </a:lnSpc>
              <a:defRPr sz="750">
                <a:latin typeface="Arial"/>
              </a:defRPr>
            </a:pPr>
            <a:r>
              <a:t>Loss Functions in Detail:</a:t>
            </a:r>
          </a:p>
          <a:p>
            <a:endParaRPr/>
          </a:p>
          <a:p>
            <a:r>
              <a:t>1. Wasserstein Loss with Gradient Penalty (WGAN-GP):</a:t>
            </a:r>
          </a:p>
          <a:p>
            <a:r>
              <a:t>   𝓛_D = E[D(x̃)] - E[D(x)] + λ_GP · E[(||∇D(αx + (1-α)x̃)||₂ - 1)²]</a:t>
            </a:r>
          </a:p>
          <a:p>
            <a:r>
              <a:t>   </a:t>
            </a:r>
          </a:p>
          <a:p>
            <a:r>
              <a:t>   • Measures distribution distance between real and fake</a:t>
            </a:r>
          </a:p>
          <a:p>
            <a:r>
              <a:t>   • GP stabilizes training by constraining gradient norm</a:t>
            </a:r>
          </a:p>
          <a:p>
            <a:endParaRPr/>
          </a:p>
          <a:p>
            <a:r>
              <a:t>2. Generator Adversarial Loss:</a:t>
            </a:r>
          </a:p>
          <a:p>
            <a:r>
              <a:t>   𝓛_adv = -E[D(x̃)] - E[D_s(x̃)]</a:t>
            </a:r>
          </a:p>
          <a:p>
            <a:r>
              <a:t>   </a:t>
            </a:r>
          </a:p>
          <a:p>
            <a:r>
              <a:t>   • Fool both time and frequency discriminators</a:t>
            </a:r>
          </a:p>
          <a:p>
            <a:endParaRPr/>
          </a:p>
          <a:p>
            <a:r>
              <a:t>3. MMD Loss (Maximum Mean Discrepancy):</a:t>
            </a:r>
          </a:p>
          <a:p>
            <a:r>
              <a:t>   𝓛_MMD = ||μ_real - μ_fake||² with multi-scale Gaussian kernels</a:t>
            </a:r>
          </a:p>
          <a:p>
            <a:r>
              <a:t>   </a:t>
            </a:r>
          </a:p>
          <a:p>
            <a:r>
              <a:t>   • Align feature distributions in latent space</a:t>
            </a:r>
          </a:p>
          <a:p>
            <a:r>
              <a:t>   • Kernels: σ ∈ {0.1, 0.5, 1.0, 2.0, 5.0}</a:t>
            </a:r>
          </a:p>
          <a:p>
            <a:endParaRPr/>
          </a:p>
          <a:p>
            <a:r>
              <a:t>4. Frequency Consistency Loss:</a:t>
            </a:r>
          </a:p>
          <a:p>
            <a:r>
              <a:t>   𝓛_freq = MSE(|FFT(x)|, |FFT(x̃)|)</a:t>
            </a:r>
          </a:p>
          <a:p>
            <a:r>
              <a:t>   </a:t>
            </a:r>
          </a:p>
          <a:p>
            <a:r>
              <a:t>   • Preserve spectral characteristics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383280"/>
            <a:ext cx="3840480" cy="1874519"/>
          </a:xfrm>
          <a:prstGeom prst="rect">
            <a:avLst/>
          </a:prstGeom>
          <a:solidFill>
            <a:srgbClr val="FFF5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lnSpc>
                <a:spcPct val="105000"/>
              </a:lnSpc>
              <a:defRPr sz="750">
                <a:latin typeface="Arial"/>
              </a:defRPr>
            </a:pPr>
            <a:r>
              <a:t>Training Strategy:</a:t>
            </a:r>
          </a:p>
          <a:p>
            <a:endParaRPr/>
          </a:p>
          <a:p>
            <a:r>
              <a:t>Algorithm: Alternating optimization</a:t>
            </a:r>
          </a:p>
          <a:p>
            <a:r>
              <a:t>  1. Update D and D_s for n_critic=3 iterations</a:t>
            </a:r>
          </a:p>
          <a:p>
            <a:r>
              <a:t>  2. Update G and E for 1 iteration</a:t>
            </a:r>
          </a:p>
          <a:p>
            <a:endParaRPr/>
          </a:p>
          <a:p>
            <a:r>
              <a:t>Stabilization Techniques:</a:t>
            </a:r>
          </a:p>
          <a:p>
            <a:r>
              <a:t>  • Spectral Normalization (SN) on all discriminator layers</a:t>
            </a:r>
          </a:p>
          <a:p>
            <a:r>
              <a:t>  • Gradient clipping: max_norm = 1.0</a:t>
            </a:r>
          </a:p>
          <a:p>
            <a:r>
              <a:t>  • Adam optimizer with β₁=0.0, β₂=0.9</a:t>
            </a:r>
          </a:p>
          <a:p>
            <a:r>
              <a:t>  • Separate learning rates: lr_G=1e-4, lr_D=1e-4</a:t>
            </a:r>
          </a:p>
          <a:p>
            <a:endParaRPr/>
          </a:p>
          <a:p>
            <a:r>
              <a:t>Hyperparameter Selection:</a:t>
            </a:r>
          </a:p>
          <a:p>
            <a:r>
              <a:t>  λ_GP = 10 (gradient penalty weight)</a:t>
            </a:r>
          </a:p>
          <a:p>
            <a:r>
              <a:t>  λ_mmd = 20 (MMD loss weight)</a:t>
            </a:r>
          </a:p>
          <a:p>
            <a:r>
              <a:t>  λ_freq = 5 (frequency loss weight)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1143</Words>
  <Application>Microsoft Office PowerPoint</Application>
  <PresentationFormat>自定义</PresentationFormat>
  <Paragraphs>165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恒恒 刘</cp:lastModifiedBy>
  <cp:revision>2</cp:revision>
  <dcterms:created xsi:type="dcterms:W3CDTF">2013-01-27T09:14:16Z</dcterms:created>
  <dcterms:modified xsi:type="dcterms:W3CDTF">2025-12-17T10:38:20Z</dcterms:modified>
  <cp:category/>
</cp:coreProperties>
</file>